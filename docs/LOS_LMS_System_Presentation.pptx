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3366"/>
                </a:solidFill>
              </a:defRPr>
            </a:pPr>
            <a:r>
              <a:t>Unified Loan Origination &amp;</a:t>
            </a:r>
            <a:br/>
            <a:r>
              <a:t>Loan Management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646464"/>
                </a:solidFill>
              </a:defRPr>
            </a:pPr>
            <a:r>
              <a:t>A Complete Enterprise Lending Platform</a:t>
            </a:r>
            <a:br/>
            <a:br/>
            <a:r>
              <a:t>Retail • Commercial • Co-Lending • Supply Chain • Securitization</a:t>
            </a:r>
            <a:br/>
            <a:r>
              <a:t>FLDG • ECL Staging • Servicer Income</a:t>
            </a:r>
            <a:br/>
            <a:br/>
            <a:r>
              <a:t>Version 2.0 | 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/>
            </a:pPr>
            <a:r>
              <a:t>386 Tests | 65+ Models | 25+ Services | 120 Files | 22,000+ Lines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7772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</a:tblGrid>
              <a:tr h="41148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Capability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Loan Origination &amp;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✓ Complete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Co-Lending (80:20, 90:10, 100:0)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✓ Complete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FLDG (First/Second Loss)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✓ Complete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ECL Staging (IFRS 9)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✓ Complete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Servicer Fees &amp; Income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✓ Complete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Supply Chain Finance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✓ Complete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Securitization (PTC/DA)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✓ Complete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646464"/>
                </a:solidFill>
              </a:defRPr>
            </a:pPr>
            <a:r>
              <a:t>Modern, Scalable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FastAPI (Python) - High-performance REST API framework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SQLAlchemy 2.0 ORM - Enterprise-grade database abstraction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Pydantic v2 - Type safety and request/response validation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PostgreSQL / SQLite - ACID-compliant database layer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pytest - Comprehensive test framework (386 tests)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646464"/>
                </a:solidFill>
              </a:defRPr>
            </a:pPr>
            <a:r>
              <a:t>Layered Design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Clients (Mobile / Web / API) → API Layer (FastAPI Routers)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API Layer → Services Layer (Business Logic)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Services Layer → Models Layer (SQLAlchemy ORM)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Models Layer → Database (PostgreSQL)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Key Modules: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Core: Borrowers, Products, Applications, Accounts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Co-Lending: Partners, Participations, Settlements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Risk: FLDG, ECL Staging, Provisions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Income: Servicer Fees, Excess Spread, Withholding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Co-Lending Partnership Types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/>
            </a:pPr>
            <a:r>
              <a:t>Flexible Partnership Structures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77724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41148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Ratio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Co-Lending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80:20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Both parties fund (Standard NBFC-Bank)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Co-Lending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90:10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Low capital NBFC arrangements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Direct Assignment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100:0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Lender funds 100%, originator services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Participation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Variable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Sale of existing loan participation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Collection Split (80:20 Example)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646464"/>
                </a:solidFill>
              </a:defRPr>
            </a:pPr>
            <a:r>
              <a:t>Payment Waterfall with Withholding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EMI Received: ₹22,000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Waterfall: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1. Servicer Fee Withheld: ₹85 (fee + GST)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2. Excess Spread Withheld: ₹1,143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3. Lender Principal (80%): ₹13,600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4. Lender Interest (after excess): ₹2,857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Net to Lender: ₹16,372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Net to Originator: ₹5,628 (share + fee + spread)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FLDG (First Loss Default Guarantee)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6699"/>
                </a:solidFill>
              </a:defRPr>
            </a:pPr>
            <a:r>
              <a:t>First Loss FLDG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Originator's guarantee absorbs first</a:t>
            </a:r>
          </a:p>
          <a:p>
            <a:pPr>
              <a:spcAft>
                <a:spcPts val="600"/>
              </a:spcAft>
              <a:defRPr sz="1400"/>
            </a:pPr>
            <a:r>
              <a:t>• Protects lender up to X%</a:t>
            </a:r>
          </a:p>
          <a:p>
            <a:pPr>
              <a:spcAft>
                <a:spcPts val="600"/>
              </a:spcAft>
              <a:defRPr sz="1400"/>
            </a:pPr>
            <a:r>
              <a:t>• Example: 5% FLDG on ₹100 Cr</a:t>
            </a:r>
          </a:p>
          <a:p>
            <a:pPr>
              <a:spcAft>
                <a:spcPts val="600"/>
              </a:spcAft>
              <a:defRPr sz="1400"/>
            </a:pPr>
            <a:r>
              <a:t>•    → ₹5 Cr protection</a:t>
            </a:r>
          </a:p>
          <a:p>
            <a:pPr>
              <a:spcAft>
                <a:spcPts val="600"/>
              </a:spcAft>
              <a:defRPr sz="1400"/>
            </a:pPr>
            <a:r>
              <a:t>• Trigger: 90+ DPD or Write-off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0972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6699"/>
                </a:solidFill>
              </a:defRPr>
            </a:pPr>
            <a:r>
              <a:t>Second Loss FLDG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Kicks in after threshold breached</a:t>
            </a:r>
          </a:p>
          <a:p>
            <a:pPr>
              <a:spcAft>
                <a:spcPts val="600"/>
              </a:spcAft>
              <a:defRPr sz="1400"/>
            </a:pPr>
            <a:r>
              <a:t>• Lender bears first loss up to Y%</a:t>
            </a:r>
          </a:p>
          <a:p>
            <a:pPr>
              <a:spcAft>
                <a:spcPts val="600"/>
              </a:spcAft>
              <a:defRPr sz="1400"/>
            </a:pPr>
            <a:r>
              <a:t>• Example: 3% first loss, then FLDG</a:t>
            </a:r>
          </a:p>
          <a:p>
            <a:pPr>
              <a:spcAft>
                <a:spcPts val="600"/>
              </a:spcAft>
              <a:defRPr sz="1400"/>
            </a:pPr>
            <a:r>
              <a:t>•    → Loss of ₹7 Cr:</a:t>
            </a:r>
          </a:p>
          <a:p>
            <a:pPr>
              <a:spcAft>
                <a:spcPts val="600"/>
              </a:spcAft>
              <a:defRPr sz="1400"/>
            </a:pPr>
            <a:r>
              <a:t>•    → Lender: ₹3 Cr, FLDG: ₹4 Cr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FLDG Utilization &amp; Recovery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646464"/>
                </a:solidFill>
              </a:defRPr>
            </a:pPr>
            <a:r>
              <a:t>Complete Lifecycle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Utilization Flow: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Loan Defaults → Check FLDG Coverage → Calculate Claim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→ Principal × Partner Share % + Interest (if covered)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→ Approve → Update FLDG Balance → Record Utilization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Recovery Flow: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Recovery from Written-off Loan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→ Return to FLDG Pool (up to utilized amount)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→ Excess to Lender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Top-up: Required when balance &lt; 50% of limit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ECL Staging (IFRS 9 / Ind AS 109)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/>
            </a:pPr>
            <a:r>
              <a:t>Forward-Looking Provisioning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7772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41148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Stage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ECL Measurement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Typical DPD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Stage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Performing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12-month ECL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0-30 days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Stage 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Underperforming (SICR)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Lifetime ECL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31-90 days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Stage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Non-performing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Lifetime ECL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90+ days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ECL Calculation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646464"/>
                </a:solidFill>
              </a:defRPr>
            </a:pPr>
            <a:r>
              <a:t>Expected Credit Loss 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Formula: ECL = EAD × PD × LGD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Stage 1 Example: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EAD = ₹1,00,000 | PD (12m) = 0.5% | LGD = 65%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ECL = ₹1,00,000 × 0.5% × 65% = ₹325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Stage 3 Example: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EAD = ₹1,00,000 | PD = 100% | LGD = 65%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ECL = ₹1,00,000 × 100% × 65% = ₹65,000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Stage Assignment: Write-off → NPA → DPD&gt;90 → Restructure → DPD&gt;30 → SICR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ECL Portfolio Summary (Month-End)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/>
            </a:pPr>
            <a:r>
              <a:t>Example Portfolio as on 31-Jan-2024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77724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554480"/>
              </a:tblGrid>
              <a:tr h="41148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Stage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Loans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Exposure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Provision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Coverage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Stage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9,500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₹950 Cr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₹3.09 Cr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0.33%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Stage 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₹40 Cr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₹2.60 Cr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6.50%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Stage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₹10 Cr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₹6.50 Cr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65.00%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10,000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₹1,000 Cr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₹12.19 Cr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1.22%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Servicer Income Components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/>
            </a:pPr>
            <a:r>
              <a:t>Fee &amp; Income Breakdown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77724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41148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Calculation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Example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Servicer Fee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Outstanding × Rate × Days/365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₹100Cr × 0.5% × 30/365 = ₹41K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Excess Spread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Borrower Rate - Lender Yield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14% - 10% = 4% p.a.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Performance Fee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Collections × Rate (if &gt;95%)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₹98K (0.1% bonus)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GST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18% on Servicer Fee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₹7,400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10% on Lender Interest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₹8,22K deducted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Monthly Income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6699"/>
                </a:solidFill>
              </a:defRPr>
            </a:pPr>
            <a:r>
              <a:t>Servicer Income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Servicer Fee: ₹4,10,000</a:t>
            </a:r>
          </a:p>
          <a:p>
            <a:pPr>
              <a:spcAft>
                <a:spcPts val="600"/>
              </a:spcAft>
              <a:defRPr sz="1400"/>
            </a:pPr>
            <a:r>
              <a:t>• Excess Spread: ₹3,29,000</a:t>
            </a:r>
          </a:p>
          <a:p>
            <a:pPr>
              <a:spcAft>
                <a:spcPts val="600"/>
              </a:spcAft>
              <a:defRPr sz="1400"/>
            </a:pPr>
            <a:r>
              <a:t>• Performance Fee: ₹98,000</a:t>
            </a:r>
          </a:p>
          <a:p>
            <a:pPr>
              <a:spcAft>
                <a:spcPts val="600"/>
              </a:spcAft>
              <a:defRPr sz="1400"/>
            </a:pPr>
            <a:r>
              <a:t>• Gross Income: ₹8,37,000</a:t>
            </a:r>
          </a:p>
          <a:p>
            <a:pPr>
              <a:spcAft>
                <a:spcPts val="600"/>
              </a:spcAft>
              <a:defRPr sz="1400"/>
            </a:pPr>
            <a:r>
              <a:t>• GST Collected: ₹73,800</a:t>
            </a:r>
          </a:p>
          <a:p>
            <a:pPr>
              <a:spcAft>
                <a:spcPts val="600"/>
              </a:spcAft>
              <a:defRPr sz="1400"/>
            </a:pPr>
            <a:r>
              <a:t>• Total Invoice: ₹9,10,800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0972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6699"/>
                </a:solidFill>
              </a:defRPr>
            </a:pPr>
            <a:r>
              <a:t>Lender Income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Interest Income: ₹82,19,000</a:t>
            </a:r>
          </a:p>
          <a:p>
            <a:pPr>
              <a:spcAft>
                <a:spcPts val="600"/>
              </a:spcAft>
              <a:defRPr sz="1400"/>
            </a:pPr>
            <a:r>
              <a:t>• Less: TDS (10%): (₹8,21,900)</a:t>
            </a:r>
          </a:p>
          <a:p>
            <a:pPr>
              <a:spcAft>
                <a:spcPts val="600"/>
              </a:spcAft>
              <a:defRPr sz="1400"/>
            </a:pPr>
            <a:r>
              <a:t>• Net Interest: ₹73,97,100</a:t>
            </a:r>
          </a:p>
          <a:p>
            <a:pPr>
              <a:spcAft>
                <a:spcPts val="600"/>
              </a:spcAft>
              <a:defRPr sz="1400"/>
            </a:pPr>
            <a:r>
              <a:t>• </a:t>
            </a:r>
          </a:p>
          <a:p>
            <a:pPr>
              <a:spcAft>
                <a:spcPts val="600"/>
              </a:spcAft>
              <a:defRPr sz="1400"/>
            </a:pPr>
            <a:r>
              <a:t>• Principal Collections: As per share</a:t>
            </a:r>
          </a:p>
          <a:p>
            <a:pPr>
              <a:spcAft>
                <a:spcPts val="600"/>
              </a:spcAft>
              <a:defRPr sz="1400"/>
            </a:pPr>
            <a:r>
              <a:t>• Net Settlement: After withholding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Write-off &amp; ECL Flags (LoanAccount)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646464"/>
                </a:solidFill>
              </a:defRPr>
            </a:pPr>
            <a:r>
              <a:t>Comprehensive Flag Tracking Across All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Write-off Flags: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is_written_off, write_off_date, write_off_amount, write_off_reason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NPA Flags: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is_npa, npa_date, npa_category (substandard/doubtful/loss)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ECL Fields: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ecl_stage (1/2/3), ecl_stage_date, ecl_provision, ecl_provision_date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Other Flags: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is_restructured, sicr_flag, is_fraud, is_co_lent, has_fldg_coverage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Financial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6699"/>
                </a:solidFill>
              </a:defRPr>
            </a:pPr>
            <a:r>
              <a:t>Day-Count Conventions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30/360 - US corporate standard</a:t>
            </a:r>
          </a:p>
          <a:p>
            <a:pPr>
              <a:spcAft>
                <a:spcPts val="600"/>
              </a:spcAft>
              <a:defRPr sz="1400"/>
            </a:pPr>
            <a:r>
              <a:t>• ACT/365 - Indian lending standard</a:t>
            </a:r>
          </a:p>
          <a:p>
            <a:pPr>
              <a:spcAft>
                <a:spcPts val="600"/>
              </a:spcAft>
              <a:defRPr sz="1400"/>
            </a:pPr>
            <a:r>
              <a:t>• ACT/ACT - Government bonds</a:t>
            </a:r>
          </a:p>
          <a:p>
            <a:pPr>
              <a:spcAft>
                <a:spcPts val="600"/>
              </a:spcAft>
              <a:defRPr sz="1400"/>
            </a:pPr>
            <a:r>
              <a:t>• ACT/360 - Money 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0972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6699"/>
                </a:solidFill>
              </a:defRPr>
            </a:pPr>
            <a:r>
              <a:t>Schedule 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EMI - Equal monthly installments</a:t>
            </a:r>
          </a:p>
          <a:p>
            <a:pPr>
              <a:spcAft>
                <a:spcPts val="600"/>
              </a:spcAft>
              <a:defRPr sz="1400"/>
            </a:pPr>
            <a:r>
              <a:t>• Bullet - Principal at maturity</a:t>
            </a:r>
          </a:p>
          <a:p>
            <a:pPr>
              <a:spcAft>
                <a:spcPts val="600"/>
              </a:spcAft>
              <a:defRPr sz="1400"/>
            </a:pPr>
            <a:r>
              <a:t>• Interest-Only - Interest payments only</a:t>
            </a:r>
          </a:p>
          <a:p>
            <a:pPr>
              <a:spcAft>
                <a:spcPts val="600"/>
              </a:spcAft>
              <a:defRPr sz="1400"/>
            </a:pPr>
            <a:r>
              <a:t>• Step-Up/Down - Graduated payments</a:t>
            </a:r>
          </a:p>
          <a:p>
            <a:pPr>
              <a:spcAft>
                <a:spcPts val="600"/>
              </a:spcAft>
              <a:defRPr sz="1400"/>
            </a:pPr>
            <a:r>
              <a:t>• Balloon - Large final payment</a:t>
            </a:r>
          </a:p>
          <a:p>
            <a:pPr>
              <a:spcAft>
                <a:spcPts val="600"/>
              </a:spcAft>
              <a:defRPr sz="1400"/>
            </a:pPr>
            <a:r>
              <a:t>• Moratorium - Deferred start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Loan Lifecycle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6699"/>
                </a:solidFill>
              </a:defRPr>
            </a:pPr>
            <a:r>
              <a:t>Restructuring 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Rate Reduction - Lower EMI</a:t>
            </a:r>
          </a:p>
          <a:p>
            <a:pPr>
              <a:spcAft>
                <a:spcPts val="600"/>
              </a:spcAft>
              <a:defRPr sz="1400"/>
            </a:pPr>
            <a:r>
              <a:t>• Tenure Extension - Lower EMI</a:t>
            </a:r>
          </a:p>
          <a:p>
            <a:pPr>
              <a:spcAft>
                <a:spcPts val="600"/>
              </a:spcAft>
              <a:defRPr sz="1400"/>
            </a:pPr>
            <a:r>
              <a:t>• Principal Haircut - Debt relief</a:t>
            </a:r>
          </a:p>
          <a:p>
            <a:pPr>
              <a:spcAft>
                <a:spcPts val="600"/>
              </a:spcAft>
              <a:defRPr sz="1400"/>
            </a:pPr>
            <a:r>
              <a:t>• Impact on ECL Stage (→ Stage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0972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6699"/>
                </a:solidFill>
              </a:defRPr>
            </a:pPr>
            <a:r>
              <a:t>Closure 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Normal - Fully paid as scheduled</a:t>
            </a:r>
          </a:p>
          <a:p>
            <a:pPr>
              <a:spcAft>
                <a:spcPts val="600"/>
              </a:spcAft>
              <a:defRPr sz="1400"/>
            </a:pPr>
            <a:r>
              <a:t>• Foreclosure - Prepaid before maturity</a:t>
            </a:r>
          </a:p>
          <a:p>
            <a:pPr>
              <a:spcAft>
                <a:spcPts val="600"/>
              </a:spcAft>
              <a:defRPr sz="1400"/>
            </a:pPr>
            <a:r>
              <a:t>• Settlement (OTS) - Reduced amount</a:t>
            </a:r>
          </a:p>
          <a:p>
            <a:pPr>
              <a:spcAft>
                <a:spcPts val="600"/>
              </a:spcAft>
              <a:defRPr sz="1400"/>
            </a:pPr>
            <a:r>
              <a:t>• Write-off - Bad debt with recovery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Delinquency &amp; Collections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/>
            </a:pPr>
            <a:r>
              <a:t>DPD Bucket Classification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77724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41148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Bucket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DPD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Current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Performing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None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1-30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1-30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Early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Reminder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31-60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31-60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Call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61-90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61-90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Serious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Visit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90+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91+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NPA/Stage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Legal/FLDG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Data Model Categories (65+ Models)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/>
            </a:pPr>
            <a:r>
              <a:t>Comprehensive Data Model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7772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</a:tblGrid>
              <a:tr h="41148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Models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Borrower, LoanApplication, LoanAccount, LoanProduct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Co-Lending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LoanPartner, LoanParticipation, PartnerLedger, Settlement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FLDG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FLDGArrangement, FLDGUtilization, FLDGRecovery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ECL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ECLConfiguration, ECLStaging, ECLProvision, ECLMovement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Servicer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ServicerArrangement, IncomeAccrual, WithholdingTracker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Lifecycle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LoanRestructure, Prepayment, WriteOff, WriteOffRecovery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SCF/Secur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Counterparty, Invoice, SecuritizationPool, Investor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Test Coverage (386 Tests)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/>
            </a:pPr>
            <a:r>
              <a:t>Comprehensive Test Suite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777240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41148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Tests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Coverage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Day-Count &amp; Frequencies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All conventions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Floating Rates &amp; Schedules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Benchmarks, step-up/down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Lifecycle Operations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Restructure, prepay, close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Rules &amp; Workflow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Engine, state machine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SCF &amp; Securitization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Invoice, pools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FLDG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Utilization, recovery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Staging, provisions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Servicer Income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Fees, excess spread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API Endpoints (60+)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/>
            </a:pPr>
            <a:r>
              <a:t>RESTful API with Swagger Documentation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77724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41148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Module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Endpoints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Operations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/borrowers, /loan-accounts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CRUD + Schedule + Payments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Co-Lending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/loan-participations, /settlements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CRUD + Settlement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FLDG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/fldg-arrangements, /utilizations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CRUD + Approve + Recover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ECL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/ecl-staging, /provisions, /uploads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Stage + Provision + Upload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Lifecycle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/loan-lifecycle/*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Restructure, Prepay, Close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Collections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/collection-cases, /ptp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Case management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Security &amp; Regulatory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646464"/>
                </a:solidFill>
              </a:defRPr>
            </a:pPr>
            <a:r>
              <a:t>Enterprise-Grade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Access Control: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Role-based permissions (RBAC), API key management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Data Protection: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Pydantic validation, SQL injection prevention (ORM)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Audit Trail: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Complete history for all operations, ECL provisions, FLDG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Regulatory Compliance: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IFRS 9 / Ind AS 109 ECL staging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RBI NPA classification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Co-lending guidelines compliance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FLDG disclosure requirements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Deployment Options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6699"/>
                </a:solidFill>
              </a:defRPr>
            </a:pPr>
            <a:r>
              <a:t>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Quick start with SQLite</a:t>
            </a:r>
          </a:p>
          <a:p>
            <a:pPr>
              <a:spcAft>
                <a:spcPts val="600"/>
              </a:spcAft>
              <a:defRPr sz="1400"/>
            </a:pPr>
            <a:r>
              <a:t>• pip install -r requirements.txt</a:t>
            </a:r>
          </a:p>
          <a:p>
            <a:pPr>
              <a:spcAft>
                <a:spcPts val="600"/>
              </a:spcAft>
              <a:defRPr sz="1400"/>
            </a:pPr>
            <a:r>
              <a:t>• python -m app.db.init_db</a:t>
            </a:r>
          </a:p>
          <a:p>
            <a:pPr>
              <a:spcAft>
                <a:spcPts val="600"/>
              </a:spcAft>
              <a:defRPr sz="1400"/>
            </a:pPr>
            <a:r>
              <a:t>• uvicorn app.main:app --reload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09728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6699"/>
                </a:solidFill>
              </a:defRPr>
            </a:pPr>
            <a: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Docker + PostgreSQL</a:t>
            </a:r>
          </a:p>
          <a:p>
            <a:pPr>
              <a:spcAft>
                <a:spcPts val="600"/>
              </a:spcAft>
              <a:defRPr sz="1400"/>
            </a:pPr>
            <a:r>
              <a:t>• docker compose up -d</a:t>
            </a:r>
          </a:p>
          <a:p>
            <a:pPr>
              <a:spcAft>
                <a:spcPts val="600"/>
              </a:spcAft>
              <a:defRPr sz="1400"/>
            </a:pPr>
            <a:r>
              <a:t>• alembic upgrade head</a:t>
            </a:r>
          </a:p>
          <a:p>
            <a:pPr>
              <a:spcAft>
                <a:spcPts val="600"/>
              </a:spcAft>
              <a:defRPr sz="1400"/>
            </a:pPr>
            <a:r>
              <a:t>• Horizontal scaling support</a:t>
            </a:r>
          </a:p>
          <a:p>
            <a:pPr>
              <a:spcAft>
                <a:spcPts val="600"/>
              </a:spcAft>
              <a:defRPr sz="1400"/>
            </a:pPr>
            <a:r>
              <a:t>• Environment-based config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Documentation Suite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/>
            </a:pPr>
            <a:r>
              <a:t>Comprehensive Documentation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77724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</a:tblGrid>
              <a:tr h="41148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Document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SYSTEM_DOCUMENTATION.md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Complete technical documentation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CO_LENDING_PARTNERSHIP.md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80:20, 90:10, 100:0 arrangements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FLDG_GUARANTEE.md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First/Second Loss Default Guarantee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ECL_STAGING_PROVISIONS.md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IFRS 9 Stage 1, 2, 3 provisioning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SERVICER_FEES_INCOME.md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Fees, excess spread, withholding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Key Differentiators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/>
            </a:pPr>
            <a:r>
              <a:t>What Sets Us Apart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77724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</a:tblGrid>
              <a:tr h="41148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Benefit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Multi-Product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Single platform for all loan types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Flexible Co-Lending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80:20, 90:10, 100:0 with FLDG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FLDG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First/Second loss with recovery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IFRS 9 ECL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Stage 1, 2, 3 with month-end batch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Servicer Income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Fee, excess spread, withholding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386 Tests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Production-ready quality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Future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646464"/>
                </a:solidFill>
              </a:defRPr>
            </a:pPr>
            <a:r>
              <a:t>Planned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Near-Term: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User authentication (JWT/OAuth2)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API rate limiting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Notification service (email/SMS)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Medium-Term: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Mobile SDK, Webhook integrations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Bureau API, E-signature integration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Long-Term: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ML-based credit scoring, Fraud detection</a:t>
            </a:r>
          </a:p>
          <a:p>
            <a:pPr>
              <a:spcAft>
                <a:spcPts val="1000"/>
              </a:spcAft>
              <a:defRPr sz="1800">
                <a:solidFill>
                  <a:srgbClr val="323232"/>
                </a:solidFill>
              </a:defRPr>
            </a:pPr>
            <a:r>
              <a:t>•    Multi-tenant SaaS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3366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646464"/>
                </a:solidFill>
              </a:defRPr>
            </a:pPr>
            <a:r>
              <a:t>Questions?</a:t>
            </a:r>
            <a:br/>
            <a:br/>
            <a:r>
              <a:t>Documentation: docs/SYSTEM_DOCUMENTATION.md</a:t>
            </a:r>
            <a:br/>
            <a:r>
              <a:t>API Reference: http://localhost:8000/docs</a:t>
            </a:r>
            <a:br/>
            <a:br/>
            <a:r>
              <a:t>Unified LOS/LMS v2.0 - Enterprise Lending Made Simple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