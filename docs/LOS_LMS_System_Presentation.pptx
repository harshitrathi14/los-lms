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Enterprise Loan Origination &amp;</a:t>
            </a:r>
            <a:br/>
            <a:r>
              <a:t>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4C8E6"/>
                </a:solidFill>
              </a:defRPr>
            </a:pPr>
            <a:r>
              <a:t>A Complete Lending Platform — Origination to Closure</a:t>
            </a:r>
            <a:br/>
            <a:br/>
            <a:r>
              <a:t>Retail  |  LAP  |  Co-Lending  |  Securitization  |  Investments</a:t>
            </a:r>
            <a:br/>
            <a:r>
              <a:t>FLDG  |  ECL Staging  |  Collections  |  Supply Chain</a:t>
            </a:r>
            <a:br/>
            <a:br/>
            <a:r>
              <a:t>Version 3.0  |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Platform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Complete enterprise lending lifecycle in a single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ORM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55448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69164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A699"/>
                </a:solidFill>
              </a:defRPr>
            </a:pPr>
            <a:r>
              <a:t>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148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Service Modules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55448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66B2"/>
                </a:solidFill>
              </a:defRPr>
            </a:pPr>
            <a: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API Routers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55448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9164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</a:defRPr>
            </a:pPr>
            <a:r>
              <a:t>453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Automated Tests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8892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21,300+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Lines of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278892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292608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A699"/>
                </a:solidFill>
              </a:defRPr>
            </a:pPr>
            <a:r>
              <a:t>70+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3832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API Endpoints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278892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292608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66B2"/>
                </a:solidFill>
              </a:defRPr>
            </a:pPr>
            <a:r>
              <a:t>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3832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Documentation Sections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78892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92608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</a:defRPr>
            </a:pPr>
            <a: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3832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Test Files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Modern, production-ready Python stack with zero JavaScript dependencies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API Framework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FastAPI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&gt;= 0.110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Async REST with auto OpenAPI docs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SQLAlchemy 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&gt;= 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Type-safe Mapped[] declarative models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Pydantic v2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&gt;= 2.6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Request/response schema validation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SQLite / PostgreSQL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3.x / 14+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Dev: SQLite, Prod: PostgreSQL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pydantic-settings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&gt;= 2.2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Env-based config with .env files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Migrations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Alembic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&gt;= 1.13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Schema versioning &amp; migration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Server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Uvicorn (ASGI)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&gt;= 0.29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Production ASGI server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pytest + httpx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&gt;= 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Unit, integration &amp; API tests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Docs Gen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python-pptx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&gt;= 0.6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Automated PPTX report generation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— Layered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748B"/>
                </a:solidFill>
              </a:defRPr>
            </a:pPr>
            <a:r>
              <a:t>Each layer has clear boundaries — services are stateless and composable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CLIENT LAYER:  Mobile  |  Web  |  External API  |  Swagger UI  |  Collection Software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API LAYER — 14 FastAPI Routers, 70+ endpoints: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borrowers, loan_products, loan_applications, loan_accounts, loan_lifecycle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loan_partners, loan_participations, collaterals, collections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documents, holiday_calendars, benchmark_rates, health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SERVICE LAYER — 31 stateless modules (Session passed explicitly):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Foundation (pure math, no DB): interest, frequency, calendar, floating_rate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Schedule Generation: schedule, advanced_schedule, fees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Lifecycle: payments, accrual, delinquency, restructure, prepayment, closure, lifecycle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Partners: co_lending, settlement, fldg, servicer_income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Institutional: securitization, investment, selldown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Risk &amp; Compliance: ecl, par_report, eod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Platform: workflow, lap_workflow, rules_engine, kyc, supply_chain, collection, collateral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DATA LAYER — 82 ORM models across 34 files  |  Numeric(18,2) for monetary fields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All monetary calculations use Decimal with ROUND_HALF_UP in service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Capabilities — All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82 models | 31 services | 70+ endpoints | 453 tests — all production-ready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16523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Models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Services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Features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Loan Origination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Borrower, KYC, Application, Products, 5-level Approval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Loan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EMI/Bullet/IO schedules, Payments, Accrual, DPD tracking</a:t>
                      </a:r>
                    </a:p>
                  </a:txBody>
                  <a:tcPr anchor="ctr"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LAP Collateral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Property details, Valuations, LTV, Insurance, Legal verify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Co-Lending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80:20/90:10/100:0 splits, Partner ledger, Settlements</a:t>
                      </a:r>
                    </a:p>
                  </a:txBody>
                  <a:tcPr anchor="ctr"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FLDG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First/Second Loss, Utilization, Recovery, Top-up threshold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ECL (IFRS 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Stage 1/2/3, PD x LGD x EAD, Scenario analysis, Provisions</a:t>
                      </a:r>
                    </a:p>
                  </a:txBody>
                  <a:tcPr anchor="ctr"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Collections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Cases, Actions, PTP, Escalation rules, Dashboard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Investments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NCD, CP, Bond, G-Sec, YTM, MTM, Coupon schedules</a:t>
                      </a:r>
                    </a:p>
                  </a:txBody>
                  <a:tcPr anchor="ctr"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Securitization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Pools, Tranches, Waterfall, Investor cash flows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Selldown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Full/Partial transfer, Gain/Loss, Collection split</a:t>
                      </a:r>
                    </a:p>
                  </a:txBody>
                  <a:tcPr anchor="ctr"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Servicer Income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Fees, Excess spread, Withholding, TDS/GST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Workflow, Rules engine, KYC, Supply chain, EOD batch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00A699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Loan Origination (LOS)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0175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0B4D2"/>
                </a:solidFill>
              </a:defRPr>
            </a:pPr>
            <a:r>
              <a:t>Borrower onboarding, KYC, credit assessment, product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  |  February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Borrower Management &amp; KYC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Borrower Model Fields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external_id — Unique business identifier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first_name, last_name, date_of_birth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email (unique), phone, gender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pan_number (unique), aadhaar_number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address_line1/2, city, state, pincode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employment_type: salaried/self/business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monthly_income, employer_name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kyc_status: pending/verified/rejected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risk_category: low/medium/high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API: POST/GET/PATCH /borrowers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Search by: email, PAN,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KYC &amp; Credit Bureau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13716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KYC Verification Types: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aadhaar, pan, voter_id, passport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driving_license, address_proof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Verification Status Flow: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pending --&gt; verified / rejected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Match score (0-100) tracking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Credit Bureau Reports: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CIBIL, Experian, Equifax, CRIF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credit_score, report_date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risk_flags (JSON), is_latest flag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KYC Requirements per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Loan Products — 6 Configured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Each product: code, name, currency, interest_rate_type, schedule_type, min/max_tenure, processing_fee_rate, penalty_rate, grace_days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Rate Type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Schedule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Day Count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Tenure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Config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Home Loan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Floating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ACT/365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12-360 mo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base 8.5%, grace 15d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Personal Loan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30/360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6-60 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base 14%, penalty 2%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Business Loan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Floating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ACT/365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12-84 mo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base 12%, grace 7d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Vehicle Loan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30/360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12-84 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base 9.5%, fee 1%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Gold Loan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Bullet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ACT/365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3-12 mo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base 11%, LTV 75%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Floating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ACT/365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12-240 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base 10%, 5-lvl approve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Loan Application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Application Model Fields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borrower_id (FK), product_id (FK)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status: submitted/draft/data_entry/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under_review/approved/rejected/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referred_back/disbursed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channel: branch/online/partner/DSA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requested_amount, requested_tenure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credit_score (from bureau)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approved_amount, approved_rate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approved_tenure, decision_reason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decision_at (timestamp)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branch_id, branch_name (LAP)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submitted_at, created_at, updated_at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Application Processing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13716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Status Transitions: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submitted --&gt; under_review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under_review --&gt; approved/rejected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approved --&gt; disbursed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LAP Applications: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5-level workflow auto-syncs status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draft --&gt; data_entry --&gt; review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--&gt; approved --&gt; disbursed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API Endpoints: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POST /loan-applications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GET (list with filters)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PATCH /{id}/status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4 workflow endpoints (LAP)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00A699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Loan Management (LMS)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0175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0B4D2"/>
                </a:solidFill>
              </a:defRPr>
            </a:pPr>
            <a:r>
              <a:t>Schedules, payments, accrual, delinquency, restructuring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  |  February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Loan Account — Complete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748B"/>
                </a:solidFill>
              </a:defRPr>
            </a:pPr>
            <a:r>
              <a:t>34 tracked fields — the central entity of the 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Core: account_number (unique), application_id (FK), principal_amount, disbursement_date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interest_rate, interest_rate_type (fixed/floating), schedule_type (emi/bullet/interest_only)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tenure_months, start_date, maturity_date, day_count_convention, status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Outstanding Balances (auto-refreshed on payment):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principal_outstanding, interest_outstanding, fees_outstanding, penalty_outstanding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Floating Rate: benchmark_rate_id (FK), spread, floor_rate, cap_rate, rate_reset_frequency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Delinquency: dpd (days past due), is_npa (bool), npa_date, npa_category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(substandard/doubtful_1/doubtful_2/doubtful_3/loss)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ECL: ecl_stage (1/2/3), ecl_provision, sicr_flag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Co-Lending: is_co_lent, co_lending_ratio, has_fldg_coverage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Closure: closure_date, closure_type, settlement_amount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Write-off: is_written_off, write_off_date, recovered_amount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Financial Calculation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Day-Count Conventions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30/360 — Corporate bonds (US/EU)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30-day months, 360-day year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ACT/365 — Indian lending standard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Actual days, 365-day year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ACT/360 — Money market instruments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Actual days, 360-day year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ACT/ACT — Govt bonds (ISDA)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Actual days, actual year (365/366)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Precision: Decimal(ROUND_HALF_UP)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CENT = Decimal('0.01')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RATE_PRECISION = Decimal('0.0000000001')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_to_decimal() in every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Schedule Types &amp; Formulas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13716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EMI: P x r x (1+r)^n / ((1+r)^n - 1)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where r = annual_rate / 12 / 100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Interest-Only: P x r per period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Principal bullet at maturity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Bullet: All at maturity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Advanced (via ScheduleConfiguration):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Step-Up: EMI increases by step%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Step-Down: EMI decreases by step%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Balloon: large final (balloon_%)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Moratorium: defer N months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capitalize / accrue / waive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Custom JSON schedule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Frequency, Calendar &amp; Floating Rates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Payment Frequencies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weekly: 52 periods/year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biweekly: 26 periods/year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monthly: 12 periods/year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quarterly: 4 periods/year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semi_annual: 2 periods/year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annual: 1 period/year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Holiday Calendar Model: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HolidayCalendar + Holiday entries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one_time or recurring holidays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Business Day Adjustments: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following, preceding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modified_following, modified_preceding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Floating Rate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13716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Benchmark Rates: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REPO (6.50%), MCLR (8.50%)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T-Bill (6.75%), SOFR, LIBOR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BenchmarkRateHistory tracks changes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Effective Rate Calculation: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rate = benchmark + spread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rate = max(floor, min(cap, rate))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Rate Reset: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Frequency: monthly/quarterly/annual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check_rate_reset_due(account)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apply_rate_reset() recalculates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get_rate_reset_schedule() plans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Payment Waterfall — Detailed Allocation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748B"/>
                </a:solidFill>
              </a:defRPr>
            </a:pPr>
            <a:r>
              <a:t>Waterfall: Fees --&gt; Interest --&gt; Principal | Multi-installment | Partial payment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apply_payment(loan_account_id, amount, paid_at, channel, reference, db)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Step 1: Load all unpaid installments ordered by due_date (oldest first)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Step 2: For each installment, allocate in strict order: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a) Fees outstanding (penalties, late fees, processing fees)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b) Interest outstanding (accrued interest for the period)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c) Principal outstanding (reduces loan balance)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Step 3: Create PaymentAllocation record per installment touched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Records: principal_allocated, interest_allocated, fees_allocated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Step 4: Mark installment as 'paid' if fully settled, else 'partial'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Step 5: Track unallocated_amount on Payment if excess remains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_refresh_account_balances(account, db):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Recalculates principal/interest/fees_outstanding from all schedules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compute_dpd(account, as_of_date):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DPD = (as_of_date - oldest_unpaid_due_date).days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Returns 0 if all installments paid, else days since earliest unpaid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Daily Accrual &amp; Delinquency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Interest Accrual (accrual.py)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accrue_interest_daily(account, date):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daily = balance x rate / days_in_year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Creates InterestAccrual record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Tracks cumulative_accrued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InterestAccrual Model: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accrual_date, opening_balance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interest_rate, benchmark_rate, spread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accrued_amount, cumulative_accrued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day_count_convention, status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run_daily_accrual_batch(date):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Processes all active accounts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Skips already-accrued dates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reset_cumulative_on_payment()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Delinquency (delinquency.py)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13716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DPD Buckets (RBI classification):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Standard: 0, SMA-0: 1-30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SMA-1: 31-60, SMA-2: 61-90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NPA Sub: 91-365, NPA Doubt: 366+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Sticky NPA (RBI Rule):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Once NPA, stays NPA until DPD=0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Full cure required, not partial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DelinquencySnapshot (daily):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dpd, bucket, overdue_principal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overdue_interest, overdue_fees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missed_installments count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run_daily_delinquency_batch():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Updates DPD + NPA + snapshots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Loan Lifecycle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Restructuring (restructure.py)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Restructure Types: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rate_change — Lower interest rate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tenure_extension — More months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emi_rescheduling — New EMI amount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principal_haircut — Reduce balance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LoanRestructure Model: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original_rate/tenure/emi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new_rate/tenure/emi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waived_interest, waived_penalty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approval_by, approval_date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status: pending/approved/applied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Impact analysis via lifecycle.py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Prepayment &amp; Closure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13716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Prepayment Actions: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reduce_emi — Lower EMI, same tenure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reduce_tenure — Same EMI, fewer months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foreclosure — Pay off entirely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Penalty: prepayment_amount x penalty_rate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Closure Types: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normal — All dues paid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settlement (OTS) — Agreed amount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Write-Off Types: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full, partial, technical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WriteOff + WriteOffRecovery models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Recovery by: borrower, guarantor,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legal, collection_agency, asset_sale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Fee Management — Types, Charges &amp; 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748B"/>
                </a:solidFill>
              </a:defRPr>
            </a:pPr>
            <a:r>
              <a:t>3 models (FeeType, ProductFee, FeeCharge) | Flat, percentage &amp; slab calculations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FeeType Model — Configurable fee definitions: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code, name, calculation_type (flat/percentage/slab), applies_to (loan/borrower/product)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charge_timing: upfront, on_disbursement, recurring, on_event, on_closure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is_taxable, tax_rate, waterfall_priority (allocation order in payment)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ProductFee — Fee-to-Product linkage: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product_id (FK), fee_type_id (FK)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flat_amount or percentage_value, min_amount, max_amount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grace_days (before penalty applies), is_mandatory, is_waivable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FeeCharge — Individual charges on accounts: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loan_account_id, fee_type_id, charge_date, due_date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amount, tax_amount, paid_amount, waived_amount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status: pending / paid / waived / partially_paid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Fee Waterfall: Fees have highest priority in payment allocation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Allocated BEFORE interest and principal per installment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00A699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LAP Collateral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0175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0B4D2"/>
                </a:solidFill>
              </a:defRPr>
            </a:pPr>
            <a:r>
              <a:t>Property valuation, insurance, legal verification, LTV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  |  February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Collateral Model — Complete Property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748B"/>
                </a:solidFill>
              </a:defRPr>
            </a:pPr>
            <a:r>
              <a:t>Links to: loan_application_id (required), loan_account_id (optional, set after disbursement)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Property Classification: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property_type: residential/commercial/industrial/land/mixed_use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property_sub_type: flat/bungalow/row_house/office/warehouse/shop/plot/farm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Address: address_line1/2, city, state, pincode, district, taluka, village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Area: area_sqft, carpet_area_sqft, built_up_area_sqft, land_area_acres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Ownership: owner_name, co_owner_name, ownership_type (sole/joint/leasehold/freehold)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title_deed_number, registration_date, registration_number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survey_number, cts_number, plot_number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Valuation Snapshot (auto-updated): market_value, distress_value, realizable_value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ltv_ratio, valuation_date, valuer_name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Legal: legal_status (pending/clear/issue_found), encumbrance_status, cersai_registration_id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Charge: charge_type (first/second/pari_passu), charge_creation_date, charge_id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Flags: status (active/released/under_review), is_primary_security, remarks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Collateral Sub-Models — Valuation, Insurance,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13 API endpoints: CRUD + valuations + insurance + legal-verifications + LTV + link-account +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Fields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Auto-Update Behavior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CollateralValuation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valuation_type (initial/periodic/re_valuation/distress),</a:t>
                      </a:r>
                    </a:p>
                    <a:p>
                      <a:r>
                        <a:t>valuer_name, valuer_agency, market_value, realizable_value,</a:t>
                      </a:r>
                    </a:p>
                    <a:p>
                      <a:r>
                        <a:t>distress_value, forced_sale_value, ltv_at_valuation, report_ref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Updates parent: market_value,</a:t>
                      </a:r>
                    </a:p>
                    <a:p>
                      <a:r>
                        <a:t>valuation_date, ltv_ratio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CollateralInsurance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policy_number, provider, insured_value, premium_amount,</a:t>
                      </a:r>
                    </a:p>
                    <a:p>
                      <a:r>
                        <a:t>start_date, expiry_date, renewal_date,</a:t>
                      </a:r>
                    </a:p>
                    <a:p>
                      <a:r>
                        <a:t>status (active/expired/cancelled), is_assigned_to_lender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Updates parent:</a:t>
                      </a:r>
                    </a:p>
                    <a:p>
                      <a:r>
                        <a:t>insurance snapshot fields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CollateralLegalVerification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verification_type: title_search, encumbrance_check,</a:t>
                      </a:r>
                    </a:p>
                    <a:p>
                      <a:r>
                        <a:t>cersai_search, revenue_record, mutation_check</a:t>
                      </a:r>
                    </a:p>
                    <a:p>
                      <a:r>
                        <a:t>status (pending/clear/issue_found/waived), findings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 ALL clear --&gt; parent</a:t>
                      </a:r>
                    </a:p>
                    <a:p>
                      <a:r>
                        <a:t>legal_status = 'clear'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LTV Calculation &amp; 5-Level Approval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LTV = Outstanding / Market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calculate_ltv(collateral_id, db):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If account exists (post-disburse):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LTV = principal_outstanding / mkt_val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Else (pre-disburse):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LTV = approved_amount / mkt_val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Auto-recalculates when: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New valuation added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Payment reduces outstanding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Collateral linked to account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Collateral Summary API: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Full property + all valuations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+ insurance + legal status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+ current LTV ratio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5-Level Approval (lap_workflow.py)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13716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Stages (10 total):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draft --&gt; branch_data_entry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--&gt; branch_manager_review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--&gt; regional_credit_review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--&gt; central_credit_review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--&gt; sanctioning_authority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--&gt; approved --&gt; disbursement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+ referred_back, rejected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Review stages can: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Approve --&gt; next stage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Refer back --&gt; branch_data_entry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Reject --&gt; terminal (rejected)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Auto-syncs LoanApplication.status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Sets decision_at on approved/rejected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Document &amp; Media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748B"/>
                </a:solidFill>
              </a:defRPr>
            </a:pPr>
            <a:r>
              <a:t>Backward-compatible: all new fields nullable/defaulted — existing docs unaffected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Document Model — Enhanced with 11 additional fields for LAP: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collateral_id (FK) — Links media to specific collateral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media_type: document / photo / video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section: collateral_exterior, collateral_interior, site_visit, due_diligence,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title_deed, valuation_report, legal_opinion, kyc_documents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File Metadata: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file_size_bytes, mime_type (image/jpeg, video/mp4, application/pdf)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thumbnail_path (for photo/video previews)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Geo-Tagging (for site visit photos):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capture_latitude, capture_longitude (Numeric 10,7 — ~1cm precision)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captured_at (DateTime), captured_by (String — field agent name)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description (up to 1000 chars)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API Endpoints: POST/GET /documents + GET /documents/by-collateral/{id}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GET /documents/by-section/{section} with optional collateral_id/media_type filters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00A699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Co-Lending &amp;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0175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0B4D2"/>
                </a:solidFill>
              </a:defRPr>
            </a:pPr>
            <a:r>
              <a:t>Partner management, FLDG, settlements, servicer income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  |  February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Co-Lending — Partner &amp; Participation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748B"/>
                </a:solidFill>
              </a:defRPr>
            </a:pPr>
            <a:r>
              <a:t>3 partners in seed data: SBI (80% share), Bajaj Finance (90%), HDFC Bank (70%)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LoanPartner Model: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partner_type: bank/nbfc/hfc/mfi/corporate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registration_number, rbi_license_number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default_share_percent (e.g., 80%), default_yield_rate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provides_fldg (bool), is_servicer (bool)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total_exposure_limit, current_exposure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bank_account, ifsc_code, tax_details (JSON)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LoanParticipation Model (per-loan level):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loan_account_id, partner_id, participation_type (co_lending/assignment/securitization)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share_percent, interest_rate (partner's rate vs borrower rate)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principal_disbursed, principal_outstanding, total_collections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excess_spread_earned, fldg_arrangement_id, servicer_arrangement_id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Write-off tracking: written_off_principal/interest/fees, recovery_amount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ECL per partner: ecl_stage, ecl_provision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PartnerLedger: entry_type (disbursement/collection/settlement/adjustment/fee/interest)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PartnerSettlement + PartnerSettlementDetail: batch settlement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FLDG — First Loss Default Guarantee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FLDGArrangement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arrangement_code, name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partner_id (FK), anchor_entity_id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guarantee_type: first_loss / second_loss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guarantee_form: cash_deposit / bank_guar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Limits &amp; Balances: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guarantee_percent, max_guarantee_amount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current_fldg_balance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total_utilized, total_recovered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Triggers: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trigger_dpd (e.g., 90 days)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trigger_on_write_off (bool)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trigger_on_npa (bool)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Top-up: requires_top_up (bool)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top_up_threshold_percent (e.g., 80%)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Utilization &amp; Recovery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13716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FLDGUtilization Model: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arrangement_id, loan_account_id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utilization_type: default/write_off/npa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claimed_amount, approved_amount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claim_date, approval_date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status: claimed/approved/settled/rejected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FLDGRecovery Model: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utilization_id, recovery_amount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recovery_date, recovery_source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Returned to FLDG pool balance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FLDG Claim Calculation: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principal x share% + interest + fees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Capped at remaining FLDG balance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Seed: SBI-Bajaj FLDG, Rs 2.25 Cr balance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Partner Settlement &amp; Servicer Income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Settlement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PartnerSettlement: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settlement_code, partner_id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period_start_date, period_end_date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total_principal, total_interest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total_fees, servicer_fee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net_settlement_amount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status: draft/submitted/approved/paid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PartnerSettlementDetail: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Per-loan breakdown of settlement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loan_account_id, principal/interest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PartnerLedgerEntry: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Double-entry ledger per transaction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debit_amount, credit_amount, balance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Servicer Income (servicer_income.py)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13716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ServicerArrangement: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servicer_fee_percent (e.g., 0.50%)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fee_calculation_basis: outstanding/disbursed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excess_spread_share_percent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ServicerIncomeAccrual: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Daily fee accrual per arrangement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accrual_amount, cumulative_accrued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ExcessSpreadTracking: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borrower_rate - lender_rate = spread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spread x outstanding = income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WithholdingTracker: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TDS rate, GST rate per payment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gross_amount - tds - gst = net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5 models, 25 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00A699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ECL &amp;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0175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0B4D2"/>
                </a:solidFill>
              </a:defRPr>
            </a:pPr>
            <a:r>
              <a:t>IFRS 9 provisioning, delinquency classification, PAR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  |  February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IFRS 9 ECL — Expected Credit Loss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748B"/>
                </a:solidFill>
              </a:defRPr>
            </a:pPr>
            <a:r>
              <a:t>Configurable PD/LGD per product | 3 scenarios (base/adverse/optimistic) with weights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ECL = EAD x PD x LGD  (per loan, per stage)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ECLConfiguration (per product/portfolio):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stage_1_pd (default 0.5%), stage_2_pd (5%), stage_3_pd (100%)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lgd (default 45%), cure_rate, discount_rate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scenario weights: base_weight (60%), adverse (30%), optimistic (10%)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ECLStaging — Stage assignment logic (priority order):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1. Written-off account --&gt; Stage 3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2. NPA (is_npa=True) --&gt; Stage 3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3. DPD &gt; 90 --&gt; Stage 3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4. DPD &gt; 30 --&gt; Stage 2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5. Restructured loan --&gt; Stage 2 (SICR)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6. SICR flag set --&gt; Stage 2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7. Otherwise --&gt; Stage 1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ECLProvision: provision_date, ead, pd, lgd, ecl_amount, stage, scenario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ECLMovement: tracks stage transitions (from_stage, to_stage, reason)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ECLPortfolioSummary: aggregate by product/portfolio | 6 models, 29 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Delinquency Classification &amp; NPA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RBI Sticky NPA: Once NPA, stays NPA until DPD returns to 0 (full cure). Partial payments do NOT cure NPA.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82296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Classification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DPD Range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ECL Stage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NPA Sub-category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Provisioning Action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Stage 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12-month ECL (0.5% PD)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SMA-0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1 - 30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Stage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12-month ECL, SMS alert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SMA-1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31 - 60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Stage 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Lifetime ECL (5% PD), calls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SMA-2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61 - 90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Stage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Lifetime ECL, field visit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NPA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91 - 365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Stage 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Substandard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100% PD, legal notice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366 - 730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Stage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Doubtful-1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100% PD, recovery action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NPA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731 - 1095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Stage 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Doubtful-2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100% PD, asset seizure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1096+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Stage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100% PD, write-off candidate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 Report — Portfolio at Risk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748B"/>
                </a:solidFill>
              </a:defRPr>
            </a:pPr>
            <a:r>
              <a:t>Comprehensive risk analytics for regulatory reporting and portfolio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par_report.py generates comprehensive portfolio analytics with 60+ variables: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LOS Variables (per application):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Borrower demographics, income, employment, credit score, KYC status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Product type, requested/approved amounts, channel, decision reason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Application-to-approval conversion, time-to-decision metrics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LMS Variables (per account):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Outstanding balances (principal, interest, fees), DPD, bucket classification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NPA status &amp; category, ECL stage &amp; provision amount, SICR flag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Collection case status, collateral coverage &amp; LTV ratio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Co-lending partner, FLDG coverage, restructure history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Payment behavior: last payment date, total paid, missed installments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API Endpoints (4 on /loan-applications):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GET /loan-applications/{id}/par-variables — Single application LOS+LMS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GET /loan-applications/par-report — Portfolio-wide PAR with filters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GET /loan-applications/{id}/par-los — LOS variables only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GET /loan-applications/{id}/par-lms — LMS variables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00A699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Institutional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0175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0B4D2"/>
                </a:solidFill>
              </a:defRPr>
            </a:pPr>
            <a:r>
              <a:t>Fixed income investments, securitization, selldown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  |  February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Investment Module — Fixed Income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748B"/>
                </a:solidFill>
              </a:defRPr>
            </a:pPr>
            <a:r>
              <a:t>InvestmentIssuer: 4 issuers with credit ratings (AAA, A1+, AA+, Sovereign)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4 Instrument Types: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NCD — Non-Convertible Debentures (quarterly coupon, 3-5yr tenure)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CP — Commercial Paper (zero coupon, discounted, 3-12 month)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Bond — Corporate/Government (semi-annual coupon, 5-10yr)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G-Sec — Government Securities (semi-annual coupon, 10-30yr, sovereign risk)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8 Models: InvestmentIssuer, InvestmentProduct, Investment,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InvestmentCouponSchedule, InvestmentAccrual, InvestmentValuation,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InvestmentTransaction, InvestmentPortfolioSummary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Key Calculations: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Coupon Schedule: auto-generated based on coupon_frequency and tenure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YTM (Yield to Maturity): Newton-Raphson iterative solver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Solves: Price = Sum(CF_i / (1+y)^t_i) for y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MTM (Mark-to-Market): current_price vs book_value --&gt; unrealized P&amp;L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Daily Accrual: face_value x coupon_rate / days_in_year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Seed: 4 investments — Tata Motors NCD, Reliance CP, HDFC Bond, GoI G-Sec 2034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Securitization — Pools, Tranches &amp; Cash 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Pool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SecuritizationPool: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pool_code, pool_name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pool_type: ABS / MBS / CLO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total_pool_value, weighted_avg_rate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weighted_avg_tenure, cut_off_date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status: draft/active/closed/settled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PoolLoan: loan_account_id --&gt; pool_id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original_balance, current_balance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inclusion_date, exclusion_date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PoolInvestment: investment_id --&gt; pool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For investment-backed pools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Tranche Waterfall &amp; Investors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13716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Investor Model: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investor_code, name, investor_type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pool_id, tranche (senior/mezzanine/equity)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investment_amount, yield_rate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principal_outstanding, status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Waterfall Priority: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1. Senior tranche (lowest risk/yield)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2. Mezzanine tranche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3. Equity tranche (first loss, highest yield)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InvestorCashFlow: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cash_flow_date, cf_type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principal/interest/fee amounts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status: scheduled/paid/overdue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Selldown — Loan &amp; Investment Transfers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748B"/>
                </a:solidFill>
              </a:defRPr>
            </a:pPr>
            <a:r>
              <a:t>Seed: 3 buyers — Mutual Fund (AAA), Insurance Co (AA+), Pension Fund (AAA)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SelldownTransaction Model: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transaction_code, transaction_type (full_transfer/partial_transfer)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seller_entity, buyer_id (FK to SelldownBuyer)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asset_type: loan / investment, asset_id (loan_account_id or investment_id)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book_value, sale_price, gain_loss (auto: sale_price - book_value)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sale_yield (YTM at sale price), settlement_date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status: initiated/approved/settled/cancelled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SelldownBuyer: buyer_code, name, buyer_type, credit_rating, bank_details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SelldownSettlement: settlement amounts, fees, tax, net_amount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SelldownCollectionSplit (post-selldown):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Defines how future collections are split between seller and buyer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seller_share_percent, buyer_share_percent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Applies to: principal, interest, fees separately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SelldownPortfolioSummary: aggregate metrics by asset type/buyer/period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00A699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Collection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0175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0B4D2"/>
                </a:solidFill>
              </a:defRPr>
            </a:pPr>
            <a:r>
              <a:t>Case lifecycle, actions, PTP, escalation,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  |  February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Collection Case Management — Full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748B"/>
                </a:solidFill>
              </a:defRPr>
            </a:pPr>
            <a:r>
              <a:t>Status validation: Cannot transition resolved--&gt;in_progress or closed--&gt;any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CollectionCase Model: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case_number (auto: COL-NNNNNN), loan_account_id (FK)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status: open --&gt; in_progress --&gt; resolved / written_off --&gt; closed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priority: low / medium / high / critical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assigned_to (collector name), assigned_queue (team queue)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dpd_at_open, overdue_amount_at_open (captured from loan account)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last_action_date, next_action_date, follow_up_count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resolution_type: paid / settlement / restructured / write_off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resolution_date, opened_date, closed_date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open_collection_case(loan_account_id, assigned_to, assigned_queue, priority, db):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Auto-generates case_number from count, captures current DPD and overdue amounts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update_case_status(case_id, status, resolution_type, db):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Validates transitions: open--&gt;in_progress--&gt;resolved--&gt;closed, open--&gt;written_off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Sets resolution_date on resolved/written_off, prevents invalid transitions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Collection Actions &amp; Promise to Pay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CollectionAction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case_id (FK), action_type: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call, sms, email, letter,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field_visit, legal_notice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performed_by, action_date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outcome: contacted / not_reachable /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promise_made / refused / partial_pay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follow_up_required (bool)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next_action_date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notes (free text)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Auto-behaviors on log_action():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Updates case.last_action_date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Updates case.next_action_date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If case 'open' --&gt; auto 'in_progress'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PromiseToPay (PTP)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13716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case_id (FK)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promise_date, payment_due_date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promised_amount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Status Lifecycle: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pending --&gt; kept / broken / partial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On update (update_promise_status):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actual_payment_date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actual_amount (may &lt; promised)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notes (reason for broken/partial)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Seed Data Examples: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SMA-1 case: 3 actions (call/sms/visit)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NPA case: 4 actions + legal notice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PTP: Rs 10,000 broken, Rs 5,000 partial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Escalation Rules &amp; Collection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EscalationRule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name, trigger conditions (OR logic):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trigger_dpd &gt;= threshold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trigger_bucket = SMA-1/SMA-2/NPA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trigger_amount &gt;= threshold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action_type: assign_queue, send_sms,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send_email, legal_notice, escalate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action_config (JSON parameters)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applies_to_product_id (optional filter)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priority (evaluation order), is_active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Seed Rules (5):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SMA-0 (DPD 1): SMS reminder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SMA-1 (DPD 31): Phone queue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SMA-2 (DPD 61): Field visit queue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NPA (DPD 90): Legal team queue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High Amount (&gt;50K): Legal notice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Dashboard &amp; Analytics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13716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get_collection_dashboard(db):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total_cases, by status breakdown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cases by priority (low/med/high/crit)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resolution_rate = resolved / total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get_overdue_accounts(min_dpd, max_dpd):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Query delinquent accounts for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automated case creation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get_case_details(case_id):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Full case + all actions + all PTPs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+ loan account summary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+ collateral info (if LAP)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14 API endpoints on /collections: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Cases CRUD, Actions, PTP, Escalation,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Dashboard, Overdue query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00A699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Platform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0175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0B4D2"/>
                </a:solidFill>
              </a:defRPr>
            </a:pPr>
            <a:r>
              <a:t>Workflow engine, rules engine, KYC, supply chain, EOD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  |  February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 Engine &amp; Rules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Generic Workflow (workflow.py)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WorkflowDefinition: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code (unique), stages_json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transitions_json, initial_stage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final_stages_json, requirements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WorkflowInstance: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definition_id, entity_type/id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current_stage, previous_stage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assigned_to, assigned_role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priority, sla_due_date, is_active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WorkflowTransition: audit trail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WorkflowTask: per-stage tasks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Used by: LAP 5-level approval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18 tests covering all transitions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Rules Engine (rules_engine.py)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13716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RuleSet: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code, name, entity_type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is_active, evaluation_mode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(all_rules / first_match)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DecisionRule: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rule_set_id, rule_order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condition_json (flexible logic)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action_type: approve/reject/refer/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assign/notify/score_adjust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action_params (JSON)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stop_on_match (bool)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RuleExecutionLog: audit of every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rule evaluation with input/output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24 tests covering rule evaluation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KYC, Supply Chain Finance &amp; EOD Batch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KYC &amp; Supply 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KYC Module (kyc.py):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KYCVerification: aadhaar, pan, voter_id,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passport, driving_license, address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KYCRequirement: per product config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CreditBureauReport: CIBIL, Experian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credit_score, risk_flags, report_date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Supply Chain Finance: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Counterparty: buyer/seller entities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CreditLimit: per counterparty limits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Invoice: invoice financing records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Bill discounting, factoring support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16 tests for supply chain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EOD Batch (eod.py)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13716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run_end_of_day(target_date, db):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Orchestrates daily batch processing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Step 1: Daily Interest Accrual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accrue_interest_daily for all accounts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Step 2: DPD Refresh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compute_dpd for all active accounts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Step 3: Delinquency Classification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NPA evaluation with sticky rule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Delinquency snapshot creation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Step 4: ECL Stage Evaluation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Re-stage based on updated DPD/NPA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Returns: accounts_processed count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accrual/delinquency/ecl summaries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00A699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API &amp; Data Model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0175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0B4D2"/>
                </a:solidFill>
              </a:defRPr>
            </a:pPr>
            <a:r>
              <a:t>Complete endpoint listing and model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  |  February 2026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API Endpoints — Complete Reference (70+)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All endpoints: Swagger UI at http://localhost:8000/docs | OpenAPI spec auto-generated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9391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Router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Prefix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Methods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Endpoints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Health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/health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GET /health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Borrowers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/borrowers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POST, GET /{id}, GET (list), PATCH /{id}</a:t>
                      </a:r>
                    </a:p>
                  </a:txBody>
                  <a:tcPr anchor="ctr"/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Products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/loan-products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POST, GET /{id}, GET (list), PATCH /{id}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/loan-applications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CRUD + 4 workflow + 4 PAR endpoints</a:t>
                      </a:r>
                    </a:p>
                  </a:txBody>
                  <a:tcPr anchor="ctr"/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Accounts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/loan-accounts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POST, GET /{id}, GET (list), PATCH /{id}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Lifecycle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/loan-lifecycle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restructure, prepayment, closure, write-off, schedule</a:t>
                      </a:r>
                    </a:p>
                  </a:txBody>
                  <a:tcPr anchor="ctr"/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Collaterals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/collaterals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CRUD + valuations + insurance + legal + LTV + summary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/collections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Cases, actions, PTP, escalation, dashboard, overdue</a:t>
                      </a:r>
                    </a:p>
                  </a:txBody>
                  <a:tcPr anchor="ctr"/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Documents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/documents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CRUD + by-collateral + by-section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/loan-partners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CRUD</a:t>
                      </a:r>
                    </a:p>
                  </a:txBody>
                  <a:tcPr anchor="ctr"/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Participations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/loan-participations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POST, GET /{id}, GET (list)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Calendars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/holiday-calendars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CRUD + holidays</a:t>
                      </a:r>
                    </a:p>
                  </a:txBody>
                  <a:tcPr anchor="ctr"/>
                </a:tc>
              </a:tr>
              <a:tr h="2939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Rates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/benchmark-rates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CRUD + rate history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 Model Catalog — 82 ORM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SQLAlchemy 2.0 Mapped[] types | Numeric(18,2) for monetary | All with created_at/updated_at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Models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Core Loan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Borrower, LoanProduct, LoanApplication, LoanAccount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Schedule &amp; Pay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RepaymentSchedule, Payment, PaymentAllocation, ScheduleConfig</a:t>
                      </a:r>
                    </a:p>
                  </a:txBody>
                  <a:tcPr anchor="ctr"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Fees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FeeType, ProductFee, FeeCharge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Calendar/Rate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HolidayCalendar, Holiday, BenchmarkRate, BenchmarkRateHistory</a:t>
                      </a:r>
                    </a:p>
                  </a:txBody>
                  <a:tcPr anchor="ctr"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Accrual/Delinq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InterestAccrual, DelinquencySnapshot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Lifecycle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LoanRestructure, Prepayment, WriteOff, WriteOffRecovery</a:t>
                      </a:r>
                    </a:p>
                  </a:txBody>
                  <a:tcPr anchor="ctr"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Collateral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Collateral, CollateralValuation, CollateralInsurance, CollateralLegalVerification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CollectionCase, CollectionAction, PromiseToPay, EscalationRule</a:t>
                      </a:r>
                    </a:p>
                  </a:txBody>
                  <a:tcPr anchor="ctr"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Documents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Document (with 11 media/geo fields)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Users/Auth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User, RolePermission</a:t>
                      </a:r>
                    </a:p>
                  </a:txBody>
                  <a:tcPr anchor="ctr"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Co-Lending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LoanPartner, LoanParticipation, LedgerEntry, Settlement, Detail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FLDG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FLDGArrangement, FLDGUtilization, FLDGRecovery</a:t>
                      </a:r>
                    </a:p>
                  </a:txBody>
                  <a:tcPr anchor="ctr"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ECL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ECLConfig, ECLStaging, ECLProvision, ECLMovement, ECLPortfolio, ECLUpload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Servicer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ServicerArrangement, Accrual, Distribution, ExcessSpread, Withholding</a:t>
                      </a:r>
                    </a:p>
                  </a:txBody>
                  <a:tcPr anchor="ctr"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Investment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Issuer, Product, Investment, Coupon, Accrual, Valuation, Txn, Portfolio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Securitization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Pool, PoolLoan, PoolInvestment, Investor, InvestorCashFlow</a:t>
                      </a:r>
                    </a:p>
                  </a:txBody>
                  <a:tcPr anchor="ctr"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Selldown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Transaction, Buyer, Settlement, CollectionSplit, PortfolioSummary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Pydantic v2 Schemas — 15 Schema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All Read schemas: ConfigDict(from_attributes=True) for ORM compatibility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Schema File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Classes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Pattern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borrower.py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BorrowerCreate, BorrowerRead, BorrowerUpdate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Base + Create/Read/Update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loan_product.py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LoanProductCreate, LoanProductRead, LoanProductUpdate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Base + CRUD variants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loan_application.py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LoanApplicationCreate/Read/Update + branch fields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With workflow status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loan_account.py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LoanAccountCreate, LoanAccountRead, LoanAccountUpdate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34-field Read schema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repayment_schedule.py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RepaymentScheduleRead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Read-only (auto-generated)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payment.py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PaymentCreate, PaymentRead, PaymentAllocationSchema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Create + Read + nested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collateral.py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Collateral + Valuation + Insurance + Legal schemas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 entity groups, CRUD each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collection.py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Case + Action + PTP + EscalationRule schemas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 entity groups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document.py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DocumentCreate, DocumentRead (with 11 media fields)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Enhanced for LAP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holiday_calendar.py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HolidayCalendarCreate/Read, HolidaySchema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Nested holidays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benchmark_rate.py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BenchmarkRateCreate/Read, RateHistorySchema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With rate history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00A699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Testing, Seed Data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0175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0B4D2"/>
                </a:solidFill>
              </a:defRPr>
            </a:pPr>
            <a:r>
              <a:t>453 tests, demo data, development &amp; production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  |  February 2026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Test Coverage — 453 Tests Across 22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Run: pytest (from project root) | pytest.ini sets pythonpath=backend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4204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Test File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What It Covers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test_day_count.py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 day-count conventions, year fractions, edge cases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test_frequency.py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 frequencies, due date generation, tenure calculations</a:t>
                      </a:r>
                    </a:p>
                  </a:txBody>
                  <a:tcPr anchor="ctr"/>
                </a:tc>
              </a:tr>
              <a:tr h="2420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test_calendar.py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Business days, holidays, 4 adjustment types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test_floating_rate.py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Benchmarks, effective rate, floor/cap, rate reset</a:t>
                      </a:r>
                    </a:p>
                  </a:txBody>
                  <a:tcPr anchor="ctr"/>
                </a:tc>
              </a:tr>
              <a:tr h="2420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test_schedule.py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EMI, interest-only, bullet schedule generation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test_advanced_schedule.py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Step-up, step-down, balloon, moratorium</a:t>
                      </a:r>
                    </a:p>
                  </a:txBody>
                  <a:tcPr anchor="ctr"/>
                </a:tc>
              </a:tr>
              <a:tr h="2420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test_fees.py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Fee types, charges, waivers, waterfall priority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test_accrual.py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Daily accrual, cumulative tracking, batch runs</a:t>
                      </a:r>
                    </a:p>
                  </a:txBody>
                  <a:tcPr anchor="ctr"/>
                </a:tc>
              </a:tr>
              <a:tr h="2420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test_lifecycle.py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Restructure, prepayment, closure, write-off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test_ecl.py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ECL staging, PD/LGD, scenarios, provisions, movements</a:t>
                      </a:r>
                    </a:p>
                  </a:txBody>
                  <a:tcPr anchor="ctr"/>
                </a:tc>
              </a:tr>
              <a:tr h="2420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test_fldg.py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FLDG arrangement, utilization, recovery, claims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test_servicer.py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Servicer fees, excess spread, TDS/GST, accrual</a:t>
                      </a:r>
                    </a:p>
                  </a:txBody>
                  <a:tcPr anchor="ctr"/>
                </a:tc>
              </a:tr>
              <a:tr h="2420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test_collateral.py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Collateral CRUD, LTV, valuation, legal auto-status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test_lap_workflow.py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 stages, transitions, refer-back, rejection</a:t>
                      </a:r>
                    </a:p>
                  </a:txBody>
                  <a:tcPr anchor="ctr"/>
                </a:tc>
              </a:tr>
              <a:tr h="2420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test_collection_api.py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Cases, actions, PTP, escalation, dashboard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test_delinquency_par.py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Delinquency buckets, PAR report variables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Demo Seed Data — Comprehensive Test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Run: cd backend &amp;&amp; python3 -m app.db.seed_data | Guard: skips if data exists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16523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Borrowers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Rajesh, Priya, Amit, Sunita, Vikram + 5 LAP borrowers (Meera, Arjun...)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Loan 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Home (8.5%), Personal (14%), Business (12%), Vehicle (9.5%), Gold (11%), LAP (10%)</a:t>
                      </a:r>
                    </a:p>
                  </a:txBody>
                  <a:tcPr anchor="ctr"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Applications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 general (various statuses) + 4 LAP (workflow stages)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Loan Accounts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Current (0 DPD), SMA-0 (15 DPD), SMA-1 (45 DPD), SMA-2 (75 DPD), NPA (95 DPD)</a:t>
                      </a:r>
                    </a:p>
                  </a:txBody>
                  <a:tcPr anchor="ctr"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Collaterals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Mumbai 3BHK (Rs 1.2Cr), Gurgaon office (Rs 3.5Cr), Pune bungalow, Chennai shop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Repayment Schedules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12-36 installments per account with realistic amounts</a:t>
                      </a:r>
                    </a:p>
                  </a:txBody>
                  <a:tcPr anchor="ctr"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Payments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Multiple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On-time, partial, and missed payments creating DPD scenarios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Collection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SMA-1 case (3 actions, 1 PTP) + NPA case (4 actions, 2 PTPs)</a:t>
                      </a:r>
                    </a:p>
                  </a:txBody>
                  <a:tcPr anchor="ctr"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Escalation Rules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SMA-0 SMS, SMA-1 Phone, SMA-2 Visit, NPA Legal, High Amount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Partners + FLDG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 + 1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SBI (80%), Bajaj (90%), HDFC (70%) + FLDG Rs 2.25Cr balance</a:t>
                      </a:r>
                    </a:p>
                  </a:txBody>
                  <a:tcPr anchor="ctr"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Investments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Tata NCD (9%), Reliance CP (7.5%), HDFC Bond (8.5%), GoI GSec (7.25%)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Benchmark Rates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REPO 6.50%, MCLR 8.50%, T-Bill 6.75% with history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to Run — Development &amp;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Development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# Clone and setup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git clone &lt;repo-url&gt;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cd backend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python3 -m venv .venv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source .venv/bin/activate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pip install -r requirements.txt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pip install -r requirements-dev.txt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cp .env.example .env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# Initialize &amp; seed database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python3 -m app.db.init_db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python3 -m app.db.seed_data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# Start server (auto-reload)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uvicorn app.main:app --reload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# --&gt; http://localhost:8000/docs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9319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Production &amp;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13716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# PostgreSQL (docker)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docker compose up -d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# Set DATABASE_URL in .env: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postgresql+psycopg2://los:los@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localhost:5432/los_lms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# Production server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uvicorn app.main:app \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--host 0.0.0.0 --port 8000 \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    --workers 4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# Run all 453 tests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cd &lt;project-root&gt;  # NOT backend/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python3 -m pytest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python3 -m pytest tests/test_schedule.py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python3 -m pytest -v --tb=short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Domain Rules &amp;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All monetary: Decimal(ROUND_HALF_UP) | DB: Numeric(18,2) | Conversion: _to_decimal()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16523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Formula / Definition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 x r x (1+r)^n / ((1+r)^n - 1)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schedule.py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Payment Waterfall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Fees --&gt; Interest --&gt; Principal (per installment)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payments.py</a:t>
                      </a:r>
                    </a:p>
                  </a:txBody>
                  <a:tcPr anchor="ctr"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DPD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(as_of_date - oldest_unpaid_due_date).days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payments.py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DPD &gt;= 90; Sticky until DPD = 0 (RBI rule)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delinquency.py</a:t>
                      </a:r>
                    </a:p>
                  </a:txBody>
                  <a:tcPr anchor="ctr"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ECL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EAD x PD x LGD; Stage 1=12mo, 2/3=lifetime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ecl.py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loan_outstanding / market_value x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collateral.py</a:t>
                      </a:r>
                    </a:p>
                  </a:txBody>
                  <a:tcPr anchor="ctr"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FLDG Claim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principal x share% + interest + fees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fldg.py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Newton-Raphson iterative: Price = Sum(CF/(1+y)^t)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investment.py</a:t>
                      </a:r>
                    </a:p>
                  </a:txBody>
                  <a:tcPr anchor="ctr"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Selldown G/L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Gain/Loss = sale_price - book_value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selldown.py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Effective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max(floor, min(cap, benchmark + spread))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floating_rate.py</a:t>
                      </a:r>
                    </a:p>
                  </a:txBody>
                  <a:tcPr anchor="ctr"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Excess Spread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(borrower_rate - lender_rate) x outstanding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servicer_income.py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65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Year Fraction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ACT/365: actual_days / 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interest.py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748B"/>
                </a:solidFill>
              </a:defRPr>
            </a:pPr>
            <a:r>
              <a:t>Planned enhancements for enterprise-grade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Near-Term: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JWT/OAuth2 authentication &amp; role-based access control (RBAC)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API rate limiting, throttling &amp; request logging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Notification service (email, SMS, push) with templates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Webhook integrations for external collection/CRM systems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Medium-Term: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React admin dashboard with real-time portfolio monitoring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Credit bureau API integration (CIBIL, Experian, CRIF)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E-signature &amp; e-stamping integration for document execution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Document management with S3/MinIO cloud storage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Automated report generation (PDF/Excel) for regulators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Long-Term: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ML-based credit scoring &amp; early warning system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Fraud detection engine with behavioral analysis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Multi-tenant SaaS architecture with tenant isolation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    Real-time analytics &amp; BI dashboard with drill-down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BED2"/>
                </a:solidFill>
              </a:defRPr>
            </a:pPr>
            <a:r>
              <a:t>Enterprise LOS/LMS Platform  |  Version 3.0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36576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9144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>
                <a:solidFill>
                  <a:srgbClr val="B4C8E6"/>
                </a:solidFill>
              </a:defRPr>
            </a:pPr>
            <a:r>
              <a:t>API Documentation:  http://localhost:8000/docs</a:t>
            </a:r>
          </a:p>
          <a:p>
            <a:pPr algn="ctr">
              <a:spcAft>
                <a:spcPts val="800"/>
              </a:spcAft>
              <a:defRPr sz="1600">
                <a:solidFill>
                  <a:srgbClr val="B4C8E6"/>
                </a:solidFill>
              </a:defRPr>
            </a:pPr>
            <a:r>
              <a:t>System Docs:  docs/LAP_LOS_LMS_Documentation.md</a:t>
            </a:r>
          </a:p>
          <a:p>
            <a:pPr algn="ctr">
              <a:spcAft>
                <a:spcPts val="800"/>
              </a:spcAft>
              <a:defRPr sz="1500"/>
            </a:pPr>
          </a:p>
          <a:p>
            <a:pPr algn="ctr">
              <a:spcAft>
                <a:spcPts val="800"/>
              </a:spcAft>
              <a:defRPr sz="1800">
                <a:solidFill>
                  <a:srgbClr val="64C8C8"/>
                </a:solidFill>
              </a:defRPr>
            </a:pPr>
            <a:r>
              <a:t>82 Models  |  31 Services  |  453 Tests  |  21,300+ Lines</a:t>
            </a:r>
          </a:p>
          <a:p>
            <a:pPr algn="ctr">
              <a:spcAft>
                <a:spcPts val="800"/>
              </a:spcAft>
              <a:defRPr sz="1500"/>
            </a:pPr>
          </a:p>
          <a:p>
            <a:pPr algn="ctr">
              <a:spcAft>
                <a:spcPts val="800"/>
              </a:spcAft>
              <a:defRPr sz="1500">
                <a:solidFill>
                  <a:srgbClr val="A0AABE"/>
                </a:solidFill>
              </a:defRPr>
            </a:pPr>
            <a:r>
              <a:t>Enterprise LOS/LMS v3.0 — Lending Made Simple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